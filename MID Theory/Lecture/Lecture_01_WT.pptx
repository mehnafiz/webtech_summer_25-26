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3" r:id="rId4"/>
    <p:sldId id="266" r:id="rId5"/>
    <p:sldId id="269" r:id="rId6"/>
    <p:sldId id="270" r:id="rId7"/>
    <p:sldId id="280" r:id="rId8"/>
    <p:sldId id="268"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71" r:id="rId22"/>
    <p:sldId id="272" r:id="rId23"/>
    <p:sldId id="273" r:id="rId24"/>
    <p:sldId id="274" r:id="rId25"/>
    <p:sldId id="275" r:id="rId26"/>
    <p:sldId id="276" r:id="rId27"/>
    <p:sldId id="277" r:id="rId28"/>
    <p:sldId id="258" r:id="rId29"/>
    <p:sldId id="302" r:id="rId30"/>
    <p:sldId id="278" r:id="rId31"/>
    <p:sldId id="293" r:id="rId32"/>
    <p:sldId id="294" r:id="rId33"/>
    <p:sldId id="295" r:id="rId34"/>
    <p:sldId id="296" r:id="rId35"/>
    <p:sldId id="279" r:id="rId36"/>
    <p:sldId id="299" r:id="rId37"/>
    <p:sldId id="300" r:id="rId38"/>
    <p:sldId id="301" r:id="rId39"/>
    <p:sldId id="297" r:id="rId40"/>
    <p:sldId id="298" r:id="rId41"/>
    <p:sldId id="304" r:id="rId42"/>
    <p:sldId id="305" r:id="rId43"/>
    <p:sldId id="306" r:id="rId44"/>
    <p:sldId id="264" r:id="rId45"/>
    <p:sldId id="265"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55"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dirty="0"/>
              <a:t>CSC 3222</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265279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1715">
                  <a:extLst>
                    <a:ext uri="{9D8B030D-6E8A-4147-A177-3AD203B41FA5}">
                      <a16:colId xmlns:a16="http://schemas.microsoft.com/office/drawing/2014/main" val="1762131981"/>
                    </a:ext>
                  </a:extLst>
                </a:gridCol>
                <a:gridCol w="1204957">
                  <a:extLst>
                    <a:ext uri="{9D8B030D-6E8A-4147-A177-3AD203B41FA5}">
                      <a16:colId xmlns:a16="http://schemas.microsoft.com/office/drawing/2014/main" val="445458238"/>
                    </a:ext>
                  </a:extLst>
                </a:gridCol>
                <a:gridCol w="177026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Fall 23-24</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S M Abdullah Shafi &lt;shafi@aiub.edu&gt;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142309"/>
            <a:ext cx="7754112" cy="3944981"/>
          </a:xfrm>
        </p:spPr>
        <p:txBody>
          <a:bodyPr>
            <a:normAutofit fontScale="62500" lnSpcReduction="20000"/>
          </a:bodyPr>
          <a:lstStyle/>
          <a:p>
            <a:pPr marL="457200" indent="-457200">
              <a:buFont typeface="+mj-lt"/>
              <a:buAutoNum type="arabicPeriod"/>
            </a:pPr>
            <a:r>
              <a:rPr lang="en-US" sz="2600" b="1" dirty="0">
                <a:solidFill>
                  <a:schemeClr val="tx1"/>
                </a:solidFill>
              </a:rPr>
              <a:t>Course Objectives</a:t>
            </a:r>
          </a:p>
          <a:p>
            <a:pPr marL="457200" indent="-457200">
              <a:buFont typeface="+mj-lt"/>
              <a:buAutoNum type="arabicPeriod"/>
            </a:pPr>
            <a:r>
              <a:rPr lang="en-US" sz="2600" b="1" dirty="0">
                <a:solidFill>
                  <a:schemeClr val="tx1"/>
                </a:solidFill>
              </a:rPr>
              <a:t>Course Logistics</a:t>
            </a:r>
          </a:p>
          <a:p>
            <a:pPr marL="1485900" lvl="2" indent="-571500" algn="l">
              <a:buClr>
                <a:prstClr val="black">
                  <a:lumMod val="75000"/>
                  <a:lumOff val="25000"/>
                </a:prstClr>
              </a:buClr>
              <a:buFont typeface="+mj-lt"/>
              <a:buAutoNum type="romanUcPeriod"/>
            </a:pPr>
            <a:r>
              <a:rPr lang="en-US" altLang="en-US" sz="2600" b="1" dirty="0">
                <a:solidFill>
                  <a:schemeClr val="tx1"/>
                </a:solidFill>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rPr>
              <a:t>Learning Objectives</a:t>
            </a:r>
          </a:p>
          <a:p>
            <a:pPr marL="514350" indent="-514350">
              <a:buClr>
                <a:prstClr val="black">
                  <a:lumMod val="75000"/>
                  <a:lumOff val="25000"/>
                </a:prstClr>
              </a:buClr>
              <a:buFont typeface="+mj-lt"/>
              <a:buAutoNum type="arabicPeriod"/>
            </a:pPr>
            <a:r>
              <a:rPr lang="en-US" sz="2600" b="1" dirty="0">
                <a:solidFill>
                  <a:schemeClr val="tx1"/>
                </a:solidFill>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rPr>
              <a:t>Internet </a:t>
            </a:r>
            <a:r>
              <a:rPr lang="en-US" sz="2600" b="1" dirty="0" err="1">
                <a:solidFill>
                  <a:schemeClr val="tx1"/>
                </a:solidFill>
              </a:rPr>
              <a:t>vs</a:t>
            </a:r>
            <a:r>
              <a:rPr lang="en-US" sz="2600" b="1" dirty="0">
                <a:solidFill>
                  <a:schemeClr val="tx1"/>
                </a:solidFill>
              </a:rPr>
              <a:t> WWW</a:t>
            </a:r>
          </a:p>
          <a:p>
            <a:pPr marL="1428750" lvl="2" indent="-514350" algn="l">
              <a:buClr>
                <a:prstClr val="black">
                  <a:lumMod val="75000"/>
                  <a:lumOff val="25000"/>
                </a:prstClr>
              </a:buClr>
              <a:buFont typeface="+mj-lt"/>
              <a:buAutoNum type="romanUcPeriod"/>
            </a:pPr>
            <a:r>
              <a:rPr lang="en-US" sz="2600" b="1" dirty="0">
                <a:solidFill>
                  <a:schemeClr val="tx1"/>
                </a:solidFill>
              </a:rPr>
              <a:t>Uniform Resource Identifier (URI)</a:t>
            </a:r>
          </a:p>
          <a:p>
            <a:pPr marL="1428750" lvl="2" indent="-514350" algn="l">
              <a:buClr>
                <a:prstClr val="black">
                  <a:lumMod val="75000"/>
                  <a:lumOff val="25000"/>
                </a:prstClr>
              </a:buClr>
              <a:buFont typeface="+mj-lt"/>
              <a:buAutoNum type="romanUcPeriod"/>
            </a:pPr>
            <a:endParaRPr lang="en-US" sz="2600" b="1" dirty="0">
              <a:solidFill>
                <a:schemeClr val="tx1"/>
              </a:solidFill>
            </a:endParaRPr>
          </a:p>
          <a:p>
            <a:pPr marL="514350" indent="-514350">
              <a:buClr>
                <a:prstClr val="black">
                  <a:lumMod val="75000"/>
                  <a:lumOff val="25000"/>
                </a:prstClr>
              </a:buClr>
              <a:buFont typeface="+mj-lt"/>
              <a:buAutoNum type="arabicPeriod"/>
            </a:pPr>
            <a:r>
              <a:rPr lang="en-US" sz="2600" b="1" dirty="0">
                <a:solidFill>
                  <a:schemeClr val="tx1"/>
                </a:solidFill>
              </a:rPr>
              <a:t>Browsers</a:t>
            </a:r>
            <a:endParaRPr lang="en-US" dirty="0">
              <a:solidFill>
                <a:schemeClr val="tx1"/>
              </a:solidFill>
            </a:endParaRPr>
          </a:p>
          <a:p>
            <a:pPr marL="514350" indent="-514350">
              <a:buClr>
                <a:prstClr val="black">
                  <a:lumMod val="75000"/>
                  <a:lumOff val="25000"/>
                </a:prstClr>
              </a:buClr>
              <a:buFont typeface="+mj-lt"/>
              <a:buAutoNum type="arabicPeriod"/>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a:pPr>
            <a:endParaRPr lang="en-US" sz="2800" b="1"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rPr>
              <a:t>HTTP protocol</a:t>
            </a:r>
          </a:p>
          <a:p>
            <a:pPr marL="1428750" lvl="2" indent="-514350" algn="l">
              <a:buClr>
                <a:prstClr val="black">
                  <a:lumMod val="75000"/>
                  <a:lumOff val="25000"/>
                </a:prstClr>
              </a:buClr>
              <a:buFont typeface="+mj-lt"/>
              <a:buAutoNum type="romanUcPeriod"/>
            </a:pPr>
            <a:r>
              <a:rPr lang="en-US" sz="2600" b="1" dirty="0">
                <a:solidFill>
                  <a:schemeClr val="tx1"/>
                </a:solidFill>
              </a:rPr>
              <a:t> Process of http</a:t>
            </a:r>
          </a:p>
          <a:p>
            <a:pPr marL="1428750" lvl="2" indent="-514350" algn="l">
              <a:buClr>
                <a:prstClr val="black">
                  <a:lumMod val="75000"/>
                  <a:lumOff val="25000"/>
                </a:prstClr>
              </a:buClr>
              <a:buFont typeface="+mj-lt"/>
              <a:buAutoNum type="romanUcPeriod"/>
            </a:pPr>
            <a:r>
              <a:rPr lang="en-US" sz="2600" b="1" dirty="0">
                <a:solidFill>
                  <a:schemeClr val="tx1"/>
                </a:solidFill>
              </a:rPr>
              <a:t>http Steps</a:t>
            </a:r>
          </a:p>
          <a:p>
            <a:pPr marL="1428750" lvl="2" indent="-514350" algn="l">
              <a:buClr>
                <a:prstClr val="black">
                  <a:lumMod val="75000"/>
                  <a:lumOff val="25000"/>
                </a:prstClr>
              </a:buClr>
              <a:buFont typeface="+mj-lt"/>
              <a:buAutoNum type="romanUcPeriod"/>
            </a:pPr>
            <a:r>
              <a:rPr lang="en-US" sz="2600" b="1" dirty="0">
                <a:solidFill>
                  <a:schemeClr val="tx1"/>
                </a:solidFill>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rPr>
              <a:t>HTML </a:t>
            </a:r>
          </a:p>
          <a:p>
            <a:pPr marL="514350" indent="-514350">
              <a:buClr>
                <a:prstClr val="black">
                  <a:lumMod val="75000"/>
                  <a:lumOff val="25000"/>
                </a:prstClr>
              </a:buClr>
              <a:buFont typeface="+mj-lt"/>
              <a:buAutoNum type="arabicPeriod" startAt="6"/>
            </a:pPr>
            <a:r>
              <a:rPr lang="en-US" sz="2600" b="1" dirty="0">
                <a:solidFill>
                  <a:schemeClr val="tx1"/>
                </a:solidFill>
              </a:rPr>
              <a:t>XML</a:t>
            </a:r>
          </a:p>
          <a:p>
            <a:pPr marL="514350" indent="-514350">
              <a:buClr>
                <a:prstClr val="black">
                  <a:lumMod val="75000"/>
                  <a:lumOff val="25000"/>
                </a:prstClr>
              </a:buClr>
              <a:buFont typeface="+mj-lt"/>
              <a:buAutoNum type="arabicPeriod" startAt="6"/>
            </a:pPr>
            <a:r>
              <a:rPr lang="en-US" sz="2600" b="1" dirty="0">
                <a:solidFill>
                  <a:schemeClr val="tx1"/>
                </a:solidFill>
              </a:rPr>
              <a:t>XHTML</a:t>
            </a:r>
          </a:p>
          <a:p>
            <a:pPr marL="514350" indent="-514350">
              <a:buClr>
                <a:prstClr val="black">
                  <a:lumMod val="75000"/>
                  <a:lumOff val="25000"/>
                </a:prstClr>
              </a:buClr>
              <a:buFont typeface="+mj-lt"/>
              <a:buAutoNum type="arabicPeriod" startAt="6"/>
            </a:pPr>
            <a:r>
              <a:rPr lang="en-US" sz="2600" b="1" dirty="0">
                <a:solidFill>
                  <a:schemeClr val="tx1"/>
                </a:solidFill>
              </a:rPr>
              <a:t>What is the DOM?</a:t>
            </a:r>
          </a:p>
          <a:p>
            <a:pPr marL="514350" indent="-514350">
              <a:buClr>
                <a:prstClr val="black">
                  <a:lumMod val="75000"/>
                  <a:lumOff val="25000"/>
                </a:prstClr>
              </a:buClr>
              <a:buFont typeface="+mj-lt"/>
              <a:buAutoNum type="arabicPeriod" startAt="6"/>
            </a:pPr>
            <a:r>
              <a:rPr lang="en-US" sz="2600" b="1" dirty="0">
                <a:solidFill>
                  <a:schemeClr val="tx1"/>
                </a:solidFill>
              </a:rPr>
              <a:t>DHTML</a:t>
            </a:r>
          </a:p>
          <a:p>
            <a:pPr marL="514350" indent="-514350">
              <a:buClr>
                <a:prstClr val="black">
                  <a:lumMod val="75000"/>
                  <a:lumOff val="25000"/>
                </a:prstClr>
              </a:buClr>
              <a:buFont typeface="+mj-lt"/>
              <a:buAutoNum type="arabicPeriod" startAt="6"/>
            </a:pPr>
            <a:r>
              <a:rPr lang="en-US" sz="2600" b="1" dirty="0">
                <a:solidFill>
                  <a:schemeClr val="tx1"/>
                </a:solidFill>
              </a:rPr>
              <a:t>Book</a:t>
            </a:r>
          </a:p>
          <a:p>
            <a:pPr marL="514350" indent="-514350">
              <a:buClr>
                <a:prstClr val="black">
                  <a:lumMod val="75000"/>
                  <a:lumOff val="25000"/>
                </a:prstClr>
              </a:buClr>
              <a:buFont typeface="+mj-lt"/>
              <a:buAutoNum type="arabicPeriod" startAt="6"/>
            </a:pPr>
            <a:r>
              <a:rPr lang="en-US" sz="2600" b="1" dirty="0">
                <a:solidFill>
                  <a:schemeClr val="tx1"/>
                </a:solidFill>
              </a:rPr>
              <a:t>References</a:t>
            </a:r>
          </a:p>
          <a:p>
            <a:pPr marL="1428750" lvl="2" indent="-514350" algn="l">
              <a:buClr>
                <a:prstClr val="black">
                  <a:lumMod val="75000"/>
                  <a:lumOff val="25000"/>
                </a:prstClr>
              </a:buClr>
              <a:buFont typeface="+mj-lt"/>
              <a:buAutoNum type="romanUcPeriod"/>
            </a:pPr>
            <a:endParaRPr lang="en-US" dirty="0">
              <a:solidFill>
                <a:schemeClr val="tx1"/>
              </a:solidFill>
            </a:endParaRPr>
          </a:p>
          <a:p>
            <a:pPr marL="1428750" lvl="2" indent="-514350" algn="l">
              <a:buClr>
                <a:prstClr val="black">
                  <a:lumMod val="75000"/>
                  <a:lumOff val="25000"/>
                </a:prstClr>
              </a:buClr>
              <a:buFont typeface="+mj-lt"/>
              <a:buAutoNum type="romanUcPeriod"/>
            </a:pPr>
            <a:endParaRPr lang="en-US" dirty="0">
              <a:solidFill>
                <a:schemeClr val="tx1"/>
              </a:solidFill>
            </a:endParaRPr>
          </a:p>
          <a:p>
            <a:pPr marL="514350" indent="-514350">
              <a:buClr>
                <a:prstClr val="black">
                  <a:lumMod val="75000"/>
                  <a:lumOff val="25000"/>
                </a:prstClr>
              </a:buClr>
              <a:buFont typeface="+mj-lt"/>
              <a:buAutoNum type="arabicPeriod" startAt="6"/>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startAt="6"/>
            </a:pPr>
            <a:endParaRPr lang="en-US" sz="2800" b="1" dirty="0">
              <a:solidFill>
                <a:schemeClr val="tx1"/>
              </a:solidFill>
            </a:endParaRPr>
          </a:p>
          <a:p>
            <a:pPr marL="342900" indent="-342900">
              <a:buAutoNum type="arabicPeriod" startAt="6"/>
            </a:pPr>
            <a:endParaRPr lang="en-US" sz="2400" dirty="0">
              <a:solidFill>
                <a:schemeClr val="tx1"/>
              </a:solidFill>
            </a:endParaRPr>
          </a:p>
          <a:p>
            <a:pPr marL="342900" indent="-342900">
              <a:buAutoNum type="arabicPeriod" startAt="6"/>
            </a:pPr>
            <a:endParaRPr lang="en-US" dirty="0">
              <a:solidFill>
                <a:schemeClr val="tx1"/>
              </a:solidFill>
            </a:endParaRPr>
          </a:p>
          <a:p>
            <a:pPr marL="342900" indent="-342900">
              <a:buAutoNum type="arabicPeriod" startAt="6"/>
            </a:pPr>
            <a:endParaRPr lang="en-US" dirty="0">
              <a:solidFill>
                <a:schemeClr val="tx1"/>
              </a:solidFill>
            </a:endParaRP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3662541"/>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Times New Roman"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Times New Roman" pitchFamily="18" charset="0"/>
                <a:cs typeface="Times New Roman" pitchFamily="18" charset="0"/>
              </a:rPr>
              <a:t>Design and develop real life and society targeted Client-Server based </a:t>
            </a:r>
            <a:r>
              <a:rPr lang="en-US" sz="2800">
                <a:latin typeface="Times New Roman" pitchFamily="18" charset="0"/>
                <a:cs typeface="Times New Roman" pitchFamily="18" charset="0"/>
              </a:rPr>
              <a:t>Web applications.</a:t>
            </a:r>
            <a:br>
              <a:rPr lang="en-US" dirty="0"/>
            </a:br>
            <a:endParaRPr lang="en-US" altLang="en-US" dirty="0"/>
          </a:p>
          <a:p>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3" name="Subtitle 2"/>
          <p:cNvSpPr>
            <a:spLocks noGrp="1"/>
          </p:cNvSpPr>
          <p:nvPr>
            <p:ph type="subTitle" idx="1"/>
          </p:nvPr>
        </p:nvSpPr>
        <p:spPr/>
        <p:txBody>
          <a:bodyPr/>
          <a:lstStyle/>
          <a:p>
            <a:r>
              <a:rPr lang="en-US" altLang="en-US" dirty="0"/>
              <a:t>Grading policy</a:t>
            </a:r>
            <a:endParaRPr lang="en-US" dirty="0"/>
          </a:p>
        </p:txBody>
      </p:sp>
      <p:graphicFrame>
        <p:nvGraphicFramePr>
          <p:cNvPr id="5" name="Content Placeholder 15"/>
          <p:cNvGraphicFramePr>
            <a:graphicFrameLocks/>
          </p:cNvGraphicFramePr>
          <p:nvPr>
            <p:extLst>
              <p:ext uri="{D42A27DB-BD31-4B8C-83A1-F6EECF244321}">
                <p14:modId xmlns:p14="http://schemas.microsoft.com/office/powerpoint/2010/main" val="3544527139"/>
              </p:ext>
            </p:extLst>
          </p:nvPr>
        </p:nvGraphicFramePr>
        <p:xfrm>
          <a:off x="658214" y="2205065"/>
          <a:ext cx="7572103" cy="1920240"/>
        </p:xfrm>
        <a:graphic>
          <a:graphicData uri="http://schemas.openxmlformats.org/drawingml/2006/table">
            <a:tbl>
              <a:tblPr firstRow="1" firstCol="1" bandRow="1"/>
              <a:tblGrid>
                <a:gridCol w="5860807">
                  <a:extLst>
                    <a:ext uri="{9D8B030D-6E8A-4147-A177-3AD203B41FA5}">
                      <a16:colId xmlns:a16="http://schemas.microsoft.com/office/drawing/2014/main" val="20000"/>
                    </a:ext>
                  </a:extLst>
                </a:gridCol>
                <a:gridCol w="1711296">
                  <a:extLst>
                    <a:ext uri="{9D8B030D-6E8A-4147-A177-3AD203B41FA5}">
                      <a16:colId xmlns:a16="http://schemas.microsoft.com/office/drawing/2014/main" val="20001"/>
                    </a:ext>
                  </a:extLst>
                </a:gridCol>
              </a:tblGrid>
              <a:tr h="475450">
                <a:tc gridSpan="2">
                  <a:txBody>
                    <a:bodyPr/>
                    <a:lstStyle/>
                    <a:p>
                      <a:pPr marL="0" marR="0" algn="just">
                        <a:spcBef>
                          <a:spcPts val="0"/>
                        </a:spcBef>
                        <a:spcAft>
                          <a:spcPts val="0"/>
                        </a:spcAft>
                      </a:pPr>
                      <a:r>
                        <a:rPr lang="en-US" sz="1800" b="1" dirty="0">
                          <a:effectLst/>
                          <a:latin typeface="Garamond"/>
                          <a:ea typeface="Times New Roman"/>
                          <a:cs typeface="Arial"/>
                        </a:rPr>
                        <a:t>Marking Distribution</a:t>
                      </a:r>
                      <a:endParaRPr lang="en-US" sz="1800" dirty="0">
                        <a:effectLst/>
                        <a:latin typeface="Times New Roman"/>
                        <a:ea typeface="Times New Roman"/>
                      </a:endParaRPr>
                    </a:p>
                    <a:p>
                      <a:pPr marL="0" marR="0" algn="just">
                        <a:spcBef>
                          <a:spcPts val="0"/>
                        </a:spcBef>
                        <a:spcAft>
                          <a:spcPts val="0"/>
                        </a:spcAft>
                      </a:pPr>
                      <a:r>
                        <a:rPr lang="en-US" sz="1800" b="1" dirty="0">
                          <a:effectLst/>
                          <a:latin typeface="Garamond"/>
                          <a:ea typeface="Times New Roman"/>
                          <a:cs typeface="Arial"/>
                        </a:rPr>
                        <a:t>(Midterm and Final term)</a:t>
                      </a:r>
                      <a:endParaRPr lang="en-US" sz="1800" dirty="0">
                        <a:effectLst/>
                        <a:latin typeface="Times New Roman"/>
                        <a:ea typeface="Times New Roman"/>
                      </a:endParaRPr>
                    </a:p>
                  </a:txBody>
                  <a:tcPr marL="68580" marR="68580" marT="0" marB="0">
                    <a:lnL>
                      <a:noFill/>
                    </a:lnL>
                    <a:lnR>
                      <a:noFill/>
                    </a:lnR>
                    <a:lnT>
                      <a:noFill/>
                    </a:lnT>
                    <a:lnB>
                      <a:noFill/>
                    </a:lnB>
                    <a:solidFill>
                      <a:srgbClr val="D0CECE"/>
                    </a:solidFill>
                  </a:tcPr>
                </a:tc>
                <a:tc hMerge="1">
                  <a:txBody>
                    <a:bodyPr/>
                    <a:lstStyle/>
                    <a:p>
                      <a:endParaRPr lang="en-US"/>
                    </a:p>
                  </a:txBody>
                  <a:tcPr/>
                </a:tc>
                <a:extLst>
                  <a:ext uri="{0D108BD9-81ED-4DB2-BD59-A6C34878D82A}">
                    <a16:rowId xmlns:a16="http://schemas.microsoft.com/office/drawing/2014/main" val="10000"/>
                  </a:ext>
                </a:extLst>
              </a:tr>
              <a:tr h="237725">
                <a:tc>
                  <a:txBody>
                    <a:bodyPr/>
                    <a:lstStyle/>
                    <a:p>
                      <a:pPr marL="0" marR="0" algn="just">
                        <a:spcBef>
                          <a:spcPts val="0"/>
                        </a:spcBef>
                        <a:spcAft>
                          <a:spcPts val="0"/>
                        </a:spcAft>
                      </a:pPr>
                      <a:r>
                        <a:rPr lang="en-US" sz="1800">
                          <a:effectLst/>
                          <a:latin typeface="Garamond"/>
                          <a:ea typeface="Times New Roman"/>
                          <a:cs typeface="Arial"/>
                        </a:rPr>
                        <a:t>Quiz</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20%</a:t>
                      </a:r>
                      <a:endParaRPr lang="en-US" sz="180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237725">
                <a:tc>
                  <a:txBody>
                    <a:bodyPr/>
                    <a:lstStyle/>
                    <a:p>
                      <a:pPr marL="0" marR="0" algn="just">
                        <a:spcBef>
                          <a:spcPts val="0"/>
                        </a:spcBef>
                        <a:spcAft>
                          <a:spcPts val="0"/>
                        </a:spcAft>
                      </a:pPr>
                      <a:r>
                        <a:rPr lang="en-US" sz="1800" dirty="0">
                          <a:effectLst/>
                          <a:latin typeface="Garamond"/>
                          <a:ea typeface="Times New Roman"/>
                          <a:cs typeface="Arial"/>
                        </a:rPr>
                        <a:t>Attendance</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237725">
                <a:tc>
                  <a:txBody>
                    <a:bodyPr/>
                    <a:lstStyle/>
                    <a:p>
                      <a:pPr marL="0" marR="0" algn="just">
                        <a:spcBef>
                          <a:spcPts val="0"/>
                        </a:spcBef>
                        <a:spcAft>
                          <a:spcPts val="0"/>
                        </a:spcAft>
                      </a:pPr>
                      <a:r>
                        <a:rPr lang="en-US" sz="1800" dirty="0">
                          <a:effectLst/>
                          <a:latin typeface="Garamond"/>
                          <a:ea typeface="Times New Roman"/>
                          <a:cs typeface="Arial"/>
                        </a:rPr>
                        <a:t>Lab performance </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25%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237725">
                <a:tc>
                  <a:txBody>
                    <a:bodyPr/>
                    <a:lstStyle/>
                    <a:p>
                      <a:pPr marL="0" marR="0" algn="just">
                        <a:spcBef>
                          <a:spcPts val="0"/>
                        </a:spcBef>
                        <a:spcAft>
                          <a:spcPts val="0"/>
                        </a:spcAft>
                      </a:pPr>
                      <a:r>
                        <a:rPr lang="en-US" sz="1800" dirty="0">
                          <a:effectLst/>
                          <a:latin typeface="Garamond"/>
                          <a:ea typeface="Times New Roman"/>
                          <a:cs typeface="Arial"/>
                        </a:rPr>
                        <a:t>Term Project</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237725">
                <a:tc>
                  <a:txBody>
                    <a:bodyPr/>
                    <a:lstStyle/>
                    <a:p>
                      <a:pPr marL="0" marR="0" algn="just">
                        <a:spcBef>
                          <a:spcPts val="0"/>
                        </a:spcBef>
                        <a:spcAft>
                          <a:spcPts val="0"/>
                        </a:spcAft>
                      </a:pPr>
                      <a:r>
                        <a:rPr lang="en-US" sz="1800" b="1" dirty="0">
                          <a:effectLst/>
                          <a:latin typeface="Garamond"/>
                          <a:ea typeface="Times New Roman"/>
                          <a:cs typeface="Arial"/>
                        </a:rPr>
                        <a:t>Total</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943987491"/>
              </p:ext>
            </p:extLst>
          </p:nvPr>
        </p:nvGraphicFramePr>
        <p:xfrm>
          <a:off x="1110343" y="4443549"/>
          <a:ext cx="5105400" cy="1447800"/>
        </p:xfrm>
        <a:graphic>
          <a:graphicData uri="http://schemas.openxmlformats.org/drawingml/2006/table">
            <a:tbl>
              <a:tblPr firstRow="1" firstCol="1" bandRow="1"/>
              <a:tblGrid>
                <a:gridCol w="3951928">
                  <a:extLst>
                    <a:ext uri="{9D8B030D-6E8A-4147-A177-3AD203B41FA5}">
                      <a16:colId xmlns:a16="http://schemas.microsoft.com/office/drawing/2014/main" val="20000"/>
                    </a:ext>
                  </a:extLst>
                </a:gridCol>
                <a:gridCol w="1153472">
                  <a:extLst>
                    <a:ext uri="{9D8B030D-6E8A-4147-A177-3AD203B41FA5}">
                      <a16:colId xmlns:a16="http://schemas.microsoft.com/office/drawing/2014/main" val="20001"/>
                    </a:ext>
                  </a:extLst>
                </a:gridCol>
              </a:tblGrid>
              <a:tr h="361950">
                <a:tc gridSpan="2">
                  <a:txBody>
                    <a:bodyPr/>
                    <a:lstStyle/>
                    <a:p>
                      <a:pPr marL="0" marR="0" algn="just">
                        <a:spcBef>
                          <a:spcPts val="0"/>
                        </a:spcBef>
                        <a:spcAft>
                          <a:spcPts val="0"/>
                        </a:spcAft>
                      </a:pPr>
                      <a:r>
                        <a:rPr lang="en-US" sz="1800" b="1" dirty="0">
                          <a:effectLst/>
                          <a:latin typeface="Garamond"/>
                          <a:ea typeface="Times New Roman"/>
                          <a:cs typeface="Arial"/>
                        </a:rPr>
                        <a:t>Final Grade/ Grand Total</a:t>
                      </a:r>
                      <a:endParaRPr lang="en-US" sz="1800" dirty="0">
                        <a:effectLst/>
                        <a:latin typeface="Times New Roman"/>
                        <a:ea typeface="Times New Roman"/>
                      </a:endParaRPr>
                    </a:p>
                  </a:txBody>
                  <a:tcPr marL="68580" marR="68580" marT="0" marB="0" anchor="ctr">
                    <a:lnL>
                      <a:noFill/>
                    </a:lnL>
                    <a:lnR>
                      <a:noFill/>
                    </a:lnR>
                    <a:lnT>
                      <a:noFill/>
                    </a:lnT>
                    <a:lnB>
                      <a:noFill/>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61950">
                <a:tc>
                  <a:txBody>
                    <a:bodyPr/>
                    <a:lstStyle/>
                    <a:p>
                      <a:pPr marL="0" marR="0" algn="just">
                        <a:spcBef>
                          <a:spcPts val="0"/>
                        </a:spcBef>
                        <a:spcAft>
                          <a:spcPts val="0"/>
                        </a:spcAft>
                      </a:pPr>
                      <a:r>
                        <a:rPr lang="en-US" sz="1800" dirty="0">
                          <a:effectLst/>
                          <a:latin typeface="Garamond"/>
                          <a:ea typeface="Times New Roman"/>
                          <a:cs typeface="Arial"/>
                        </a:rPr>
                        <a:t>Midterm: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40%</a:t>
                      </a:r>
                      <a:endParaRPr lang="en-US" sz="180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1"/>
                  </a:ext>
                </a:extLst>
              </a:tr>
              <a:tr h="361950">
                <a:tc>
                  <a:txBody>
                    <a:bodyPr/>
                    <a:lstStyle/>
                    <a:p>
                      <a:pPr marL="0" marR="0">
                        <a:spcBef>
                          <a:spcPts val="0"/>
                        </a:spcBef>
                        <a:spcAft>
                          <a:spcPts val="0"/>
                        </a:spcAft>
                      </a:pPr>
                      <a:r>
                        <a:rPr lang="en-US" sz="1800" dirty="0">
                          <a:effectLst/>
                          <a:latin typeface="Garamond"/>
                          <a:ea typeface="Times New Roman"/>
                          <a:cs typeface="Arial"/>
                        </a:rPr>
                        <a:t>Final 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60%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361950">
                <a:tc>
                  <a:txBody>
                    <a:bodyPr/>
                    <a:lstStyle/>
                    <a:p>
                      <a:pPr marL="0" marR="0">
                        <a:spcBef>
                          <a:spcPts val="0"/>
                        </a:spcBef>
                        <a:spcAft>
                          <a:spcPts val="0"/>
                        </a:spcAft>
                      </a:pPr>
                      <a:r>
                        <a:rPr lang="en-US" sz="1800" b="1">
                          <a:effectLst/>
                          <a:latin typeface="Garamond"/>
                          <a:ea typeface="Times New Roman"/>
                          <a:cs typeface="Arial"/>
                        </a:rPr>
                        <a:t>Grand Total</a:t>
                      </a:r>
                      <a:endParaRPr lang="en-US" sz="180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3039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046988"/>
          </a:xfrm>
          <a:prstGeom prst="rect">
            <a:avLst/>
          </a:prstGeom>
          <a:noFill/>
        </p:spPr>
        <p:txBody>
          <a:bodyPr wrap="square" rtlCol="0">
            <a:spAutoFit/>
          </a:bodyPr>
          <a:lstStyle/>
          <a:p>
            <a:pPr marL="285750" indent="-285750">
              <a:buFont typeface="Arial" pitchFamily="34" charset="0"/>
              <a:buChar char="•"/>
            </a:pPr>
            <a:r>
              <a:rPr lang="en-US" sz="2400" dirty="0"/>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Student come after 10-15 minutes of due time is considered late.</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must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t>
            </a:r>
            <a:r>
              <a:rPr lang="en-US" sz="2400" dirty="0" err="1"/>
              <a:t>webtech</a:t>
            </a:r>
            <a:r>
              <a:rPr lang="en-US" sz="2400"/>
              <a:t> repository in </a:t>
            </a:r>
            <a:r>
              <a:rPr lang="en-US" sz="2400" dirty="0"/>
              <a:t>the first lab. </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2677656"/>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++,VS code, atoms, etc.</a:t>
            </a:r>
          </a:p>
          <a:p>
            <a:pPr marL="285750" indent="-285750">
              <a:buFont typeface="Arial" pitchFamily="34" charset="0"/>
              <a:buChar char="•"/>
            </a:pPr>
            <a:r>
              <a:rPr lang="en-US" sz="2800" dirty="0"/>
              <a:t>Modern browser and server need to test them out. E.g. – </a:t>
            </a:r>
            <a:r>
              <a:rPr lang="en-US" sz="2800" dirty="0" err="1"/>
              <a:t>google</a:t>
            </a:r>
            <a:r>
              <a:rPr lang="en-US" sz="2800" dirty="0"/>
              <a:t> chrome(browser</a:t>
            </a:r>
            <a:r>
              <a:rPr lang="en-US" sz="2800"/>
              <a:t>), XAMPP(apache </a:t>
            </a:r>
            <a:r>
              <a:rPr lang="en-US" sz="2800" dirty="0"/>
              <a:t>server).</a:t>
            </a:r>
          </a:p>
        </p:txBody>
      </p:sp>
    </p:spTree>
    <p:extLst>
      <p:ext uri="{BB962C8B-B14F-4D97-AF65-F5344CB8AC3E}">
        <p14:creationId xmlns:p14="http://schemas.microsoft.com/office/powerpoint/2010/main" val="126775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rtlCol="0">
            <a:spAutoFit/>
          </a:bodyPr>
          <a:lstStyle/>
          <a:p>
            <a:pPr algn="just"/>
            <a:r>
              <a:rPr lang="en-US" sz="2000" b="1" dirty="0"/>
              <a:t>Client Server Architecture</a:t>
            </a:r>
            <a:r>
              <a:rPr lang="en-US" sz="2000" dirty="0"/>
              <a:t> is a computing model in which the server hosts, delivers and manages most of the resources and services to be consumed by the client.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networking computing model or client/server network because all the requests and services are delivered over a network.</a:t>
            </a:r>
            <a:endParaRPr lang="en-US" altLang="en-US" sz="2000"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3046988"/>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p:txBody>
      </p:sp>
    </p:spTree>
    <p:extLst>
      <p:ext uri="{BB962C8B-B14F-4D97-AF65-F5344CB8AC3E}">
        <p14:creationId xmlns:p14="http://schemas.microsoft.com/office/powerpoint/2010/main" val="405904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A67BE9E042F1449C73E999E293C03A" ma:contentTypeVersion="0" ma:contentTypeDescription="Create a new document." ma:contentTypeScope="" ma:versionID="f3b9cc309c21b3c93a2c68c29887a3ba">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45F0D8-D4F0-4B88-9928-A1F9912B2203}"/>
</file>

<file path=customXml/itemProps2.xml><?xml version="1.0" encoding="utf-8"?>
<ds:datastoreItem xmlns:ds="http://schemas.openxmlformats.org/officeDocument/2006/customXml" ds:itemID="{BE9E92DF-1C83-406C-A95F-CC40810593AF}"/>
</file>

<file path=customXml/itemProps3.xml><?xml version="1.0" encoding="utf-8"?>
<ds:datastoreItem xmlns:ds="http://schemas.openxmlformats.org/officeDocument/2006/customXml" ds:itemID="{7F9F62B4-918C-4CF3-B782-9903DACC8A51}"/>
</file>

<file path=docProps/app.xml><?xml version="1.0" encoding="utf-8"?>
<Properties xmlns="http://schemas.openxmlformats.org/officeDocument/2006/extended-properties" xmlns:vt="http://schemas.openxmlformats.org/officeDocument/2006/docPropsVTypes">
  <Template>Spectrum.thmx</Template>
  <TotalTime>1992</TotalTime>
  <Words>3556</Words>
  <Application>Microsoft Office PowerPoint</Application>
  <PresentationFormat>On-screen Show (4:3)</PresentationFormat>
  <Paragraphs>334</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Consolas</vt:lpstr>
      <vt:lpstr>Corbel</vt:lpstr>
      <vt:lpstr>Garamond</vt:lpstr>
      <vt:lpstr>Times New Roman</vt:lpstr>
      <vt:lpstr>Wingdings</vt:lpstr>
      <vt:lpstr>Spectrum</vt:lpstr>
      <vt:lpstr>Introduction to Web Technology</vt:lpstr>
      <vt:lpstr>Lecture Outline</vt:lpstr>
      <vt:lpstr>Lecture Outline(contd.)</vt:lpstr>
      <vt:lpstr>Course Objectives</vt:lpstr>
      <vt:lpstr>Course Logistics</vt:lpstr>
      <vt:lpstr>Course Logistics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SULTANUL ARIFEEN HAMIM</cp:lastModifiedBy>
  <cp:revision>93</cp:revision>
  <dcterms:created xsi:type="dcterms:W3CDTF">2018-12-10T17:20:29Z</dcterms:created>
  <dcterms:modified xsi:type="dcterms:W3CDTF">2026-02-08T05:00:18Z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0x0101008AA67BE9E042F1449C73E999E293C03A</vt:lpwstr>
  </property>
</Properties>
</file>